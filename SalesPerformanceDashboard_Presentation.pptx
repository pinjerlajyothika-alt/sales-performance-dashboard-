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47178</c:v>
                </c:pt>
                <c:pt idx="1">
                  <c:v>7075526</c:v>
                </c:pt>
                <c:pt idx="2">
                  <c:v>5842485</c:v>
                </c:pt>
                <c:pt idx="3">
                  <c:v>16351554</c:v>
                </c:pt>
                <c:pt idx="4">
                  <c:v>45695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Mtn-200 Blk 46</c:v>
                  </c:pt>
                  <c:pt idx="1">
                    <c:v>Mtn-200 Blk 42</c:v>
                  </c:pt>
                  <c:pt idx="2">
                    <c:v>Mtn-200 Slv 38</c:v>
                  </c:pt>
                  <c:pt idx="3">
                    <c:v>Mtn-200 Slv 46</c:v>
                  </c:pt>
                  <c:pt idx="4">
                    <c:v>Mtn-200 Blk 38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1373470</c:v>
                </c:pt>
                <c:pt idx="1">
                  <c:v>1363142</c:v>
                </c:pt>
                <c:pt idx="2">
                  <c:v>1339463</c:v>
                </c:pt>
                <c:pt idx="3">
                  <c:v>1301100</c:v>
                </c:pt>
                <c:pt idx="4">
                  <c:v>1294866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</c:dPt>
          <c:dPt>
            <c:idx val="2"/>
            <c:bubble3D val="0"/>
            <c:spPr>
              <a:solidFill>
                <a:srgbClr val="FFB900"/>
              </a:solidFill>
              <a:effectLst/>
            </c:spPr>
          </c:dPt>
          <c:dPt>
            <c:idx val="3"/>
            <c:bubble3D val="0"/>
            <c:spPr>
              <a:solidFill>
                <a:srgbClr val="00B294"/>
              </a:solidFill>
              <a:effectLst/>
            </c:spPr>
          </c:dPt>
          <c:dPt>
            <c:idx val="4"/>
            <c:bubble3D val="0"/>
            <c:spPr>
              <a:solidFill>
                <a:srgbClr val="744DA9"/>
              </a:solidFill>
              <a:effectLst/>
            </c:spPr>
          </c:dPt>
          <c:dPt>
            <c:idx val="5"/>
            <c:bubble3D val="0"/>
            <c:spPr>
              <a:solidFill>
                <a:srgbClr val="FF8C00"/>
              </a:solidFill>
              <a:effectLst/>
            </c:spPr>
          </c:dPt>
          <c:dPt>
            <c:idx val="6"/>
            <c:bubble3D val="0"/>
            <c:spPr>
              <a:solidFill>
                <a:srgbClr val="7F8C8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Australia</c:v>
                </c:pt>
                <c:pt idx="1">
                  <c:v>Southwest</c:v>
                </c:pt>
                <c:pt idx="2">
                  <c:v>Northwest</c:v>
                </c:pt>
                <c:pt idx="3">
                  <c:v>UK</c:v>
                </c:pt>
                <c:pt idx="4">
                  <c:v>Germany</c:v>
                </c:pt>
                <c:pt idx="5">
                  <c:v>France</c:v>
                </c:pt>
                <c:pt idx="6">
                  <c:v>Canada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9064757</c:v>
                </c:pt>
                <c:pt idx="1">
                  <c:v>5718151</c:v>
                </c:pt>
                <c:pt idx="2">
                  <c:v>3646467</c:v>
                </c:pt>
                <c:pt idx="3">
                  <c:v>3391712</c:v>
                </c:pt>
                <c:pt idx="4">
                  <c:v>2894312</c:v>
                </c:pt>
                <c:pt idx="5">
                  <c:v>2644018</c:v>
                </c:pt>
                <c:pt idx="6">
                  <c:v>1977845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B8A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9E8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7A6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5C5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Professional</c:v>
                  </c:pt>
                  <c:pt idx="1">
                    <c:v>Skilled Manual</c:v>
                  </c:pt>
                  <c:pt idx="2">
                    <c:v>Management</c:v>
                  </c:pt>
                  <c:pt idx="3">
                    <c:v>Clerical</c:v>
                  </c:pt>
                  <c:pt idx="4">
                    <c:v>Manual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9908334</c:v>
                </c:pt>
                <c:pt idx="1">
                  <c:v>6440081</c:v>
                </c:pt>
                <c:pt idx="2">
                  <c:v>5467862</c:v>
                </c:pt>
                <c:pt idx="3">
                  <c:v>4684787</c:v>
                </c:pt>
                <c:pt idx="4">
                  <c:v>2857971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44DA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44DA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E5DB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87CC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9DD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8BEE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Bachelors</c:v>
                  </c:pt>
                  <c:pt idx="1">
                    <c:v>Partial College</c:v>
                  </c:pt>
                  <c:pt idx="2">
                    <c:v>Graduate Degree</c:v>
                  </c:pt>
                  <c:pt idx="3">
                    <c:v>High School</c:v>
                  </c:pt>
                  <c:pt idx="4">
                    <c:v>Partial HS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9903899</c:v>
                </c:pt>
                <c:pt idx="1">
                  <c:v>7723543</c:v>
                </c:pt>
                <c:pt idx="2">
                  <c:v>5460560</c:v>
                </c:pt>
                <c:pt idx="3">
                  <c:v>4634626</c:v>
                </c:pt>
                <c:pt idx="4">
                  <c:v>1636405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00D4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2010</c:v>
                  </c:pt>
                  <c:pt idx="1">
                    <c:v>2011</c:v>
                  </c:pt>
                  <c:pt idx="2">
                    <c:v>2012</c:v>
                  </c:pt>
                  <c:pt idx="3">
                    <c:v>2013</c:v>
                  </c:pt>
                  <c:pt idx="4">
                    <c:v>2014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2216</c:v>
                </c:pt>
                <c:pt idx="2">
                  <c:v>3397</c:v>
                </c:pt>
                <c:pt idx="3">
                  <c:v>52801</c:v>
                </c:pt>
                <c:pt idx="4">
                  <c:v>1970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2013</c:v>
                </c:pt>
              </c:strCache>
            </c:strRef>
          </c:tx>
          <c:spPr>
            <a:solidFill>
              <a:srgbClr val="00D4AA"/>
            </a:solidFill>
            <a:ln w="38100" cap="flat">
              <a:solidFill>
                <a:srgbClr val="00D4A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D4AA"/>
              </a:solidFill>
              <a:ln w="9525" cap="flat">
                <a:solidFill>
                  <a:srgbClr val="00D4A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857690</c:v>
                </c:pt>
                <c:pt idx="1">
                  <c:v>771349</c:v>
                </c:pt>
                <c:pt idx="2">
                  <c:v>1049907</c:v>
                </c:pt>
                <c:pt idx="3">
                  <c:v>1046023</c:v>
                </c:pt>
                <c:pt idx="4">
                  <c:v>1284593</c:v>
                </c:pt>
                <c:pt idx="5">
                  <c:v>1643178</c:v>
                </c:pt>
                <c:pt idx="6">
                  <c:v>1371676</c:v>
                </c:pt>
                <c:pt idx="7">
                  <c:v>1551066</c:v>
                </c:pt>
                <c:pt idx="8">
                  <c:v>1447496</c:v>
                </c:pt>
                <c:pt idx="9">
                  <c:v>1673293</c:v>
                </c:pt>
                <c:pt idx="10">
                  <c:v>1780920</c:v>
                </c:pt>
                <c:pt idx="11">
                  <c:v>1874360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D4AA"/>
              </a:solidFill>
              <a:effectLst/>
            </c:spPr>
          </c:dPt>
          <c:dPt>
            <c:idx val="1"/>
            <c:bubble3D val="0"/>
            <c:spPr>
              <a:solidFill>
                <a:srgbClr val="0D1B2A"/>
              </a:solidFill>
              <a:effectLst/>
            </c:spPr>
          </c:dPt>
          <c:dPt>
            <c:idx val="2"/>
            <c:bubble3D val="0"/>
            <c:spPr>
              <a:solidFill>
                <a:srgbClr val="FFB900"/>
              </a:solidFill>
              <a:effectLst/>
            </c:spPr>
          </c:dPt>
          <c:dPt>
            <c:idx val="3"/>
            <c:bubble3D val="0"/>
            <c:spPr>
              <a:solidFill>
                <a:srgbClr val="7F8C8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Road Bikes</c:v>
                </c:pt>
                <c:pt idx="1">
                  <c:v>Mountain Bikes</c:v>
                </c:pt>
                <c:pt idx="2">
                  <c:v>Touring Bikes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13200000</c:v>
                </c:pt>
                <c:pt idx="1">
                  <c:v>10100000</c:v>
                </c:pt>
                <c:pt idx="2">
                  <c:v>4800000</c:v>
                </c:pt>
                <c:pt idx="3">
                  <c:v>1262434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B4F72">
              <a:alpha val="30000"/>
            </a:srgbClr>
          </a:solidFill>
          <a:ln w="12700">
            <a:solidFill>
              <a:srgbClr val="1B4F7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926080"/>
            <a:ext cx="3200400" cy="3200400"/>
          </a:xfrm>
          <a:prstGeom prst="ellipse">
            <a:avLst/>
          </a:prstGeom>
          <a:solidFill>
            <a:srgbClr val="00D4AA">
              <a:alpha val="22000"/>
            </a:srgbClr>
          </a:solidFill>
          <a:ln w="12700">
            <a:solidFill>
              <a:srgbClr val="00D4AA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1097280"/>
            <a:ext cx="54864" cy="29260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5156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0D4AA"/>
                </a:solidFill>
              </a:rPr>
              <a:t>SALES PERFORMANCE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389888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Dashboard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31520" y="23591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5D8DC"/>
                </a:solidFill>
              </a:rPr>
              <a:t>Complete Project Presentation  |  AdventureWorks Data  |  2010 – 2014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7772400" cy="27432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900"/>
                </a:solidFill>
              </a:rPr>
              <a:t>$29.4M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900"/>
                </a:solidFill>
              </a:rPr>
              <a:t>41.1%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4320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Profit Margin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900"/>
                </a:solidFill>
              </a:rPr>
              <a:t>18,484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75488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Customers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76656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B900"/>
                </a:solidFill>
              </a:rPr>
              <a:t>100%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66560" y="34930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On-Time Delivery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8463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Prepared for Management Review  |  Confidential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62032"/>
          </a:solidFill>
          <a:ln w="12700">
            <a:solidFill>
              <a:srgbClr val="1620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Questions We Answered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4114800" cy="12801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54864" cy="128016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41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Building the Connections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Connect data tables into a model. Using Power BI and DAX to build relationships between 4 data tables.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868680"/>
            <a:ext cx="4114800" cy="12801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868680"/>
            <a:ext cx="54864" cy="128016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4183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900"/>
                </a:solidFill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1280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What Drives Our Sales?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Identify top-performing vs lowest products and regions, giving the team clear targets for growth.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331720"/>
            <a:ext cx="4114800" cy="12801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31720"/>
            <a:ext cx="54864" cy="1280160"/>
          </a:xfrm>
          <a:prstGeom prst="rect">
            <a:avLst/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404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44DA9"/>
                </a:solidFill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720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Who Are Our Customers?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017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Segment customers based on income, behaviour, and education to understand our buyer profile.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2331720"/>
            <a:ext cx="4114800" cy="12801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2331720"/>
            <a:ext cx="54864" cy="1280160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0487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856"/>
                </a:solidFill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93776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Where Are the Delays?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37760" y="30175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Analyse shipping data, check the shipping process, average delivery days and highlight late orders.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3794760"/>
            <a:ext cx="4114800" cy="12801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" y="3794760"/>
            <a:ext cx="54864" cy="128016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8679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294"/>
                </a:solidFill>
              </a:rPr>
              <a:t>05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Sales Performance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480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Visualise trends over time with easy drill-downs for products and regions across 2010–2014.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794760"/>
            <a:ext cx="4114800" cy="12801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3794760"/>
            <a:ext cx="54864" cy="1280160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867912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C00"/>
                </a:solidFill>
              </a:rPr>
              <a:t>06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37760" y="4206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Customer Behaviour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937760" y="4480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Showcase demographic insights and purchasing patterns to inform marketing and retention strategy.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2 / 12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RAW DATA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The Dataset — What We Started With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4 Tables in the Raw Excel File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097280"/>
            <a:ext cx="20116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fact_InternetSales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D4AA"/>
                </a:solidFill>
              </a:rPr>
              <a:t>60,405 rows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1148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20 columns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All sales transactions — the central fact table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8880" y="109728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8880" y="1097280"/>
            <a:ext cx="2011680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6032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dim_Product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6032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B900"/>
                </a:solidFill>
              </a:rPr>
              <a:t>606 rows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6032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8 columns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6032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Product catalogue with names, costs and variants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17720" y="109728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1097280"/>
            <a:ext cx="2011680" cy="36576"/>
          </a:xfrm>
          <a:prstGeom prst="rect">
            <a:avLst/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dim_Customer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4DA9"/>
                </a:solidFill>
              </a:rPr>
              <a:t>18,484 rows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70916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30 columns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0916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Customer demographics, income, education, occupation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66560" y="1097280"/>
            <a:ext cx="201168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766560" y="1097280"/>
            <a:ext cx="2011680" cy="36576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117043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dim_SalesTeritory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294"/>
                </a:solidFill>
              </a:rPr>
              <a:t>11 rows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58000" y="17373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568"/>
                </a:solidFill>
              </a:rPr>
              <a:t>5 columns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858000" y="193852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Sales regions, countries and territory groups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65760" y="2697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Problems Found in Raw Data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3017520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3017520"/>
            <a:ext cx="45720" cy="548640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9768" y="30540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Date columns stored as 8-digit numbers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29768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856"/>
                </a:solidFill>
              </a:rPr>
              <a:t>Problem: 20130415 instead of April 15, 2013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377440" y="3255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294"/>
                </a:solidFill>
              </a:rPr>
              <a:t>Fix: Converted to proper Date type via Power Query custom column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00600" y="3017520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00600" y="3017520"/>
            <a:ext cx="45720" cy="548640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10328" y="30540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6 null rows with missing sales data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10328" y="325526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856"/>
                </a:solidFill>
              </a:rPr>
              <a:t>Problem: SalesAmount = null, ProductKey = null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858000" y="325526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294"/>
                </a:solidFill>
              </a:rPr>
              <a:t>Fix: Filtered out null rows — reduced 60,405 to 60,399 clean rows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0040" y="3639312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20040" y="3639312"/>
            <a:ext cx="45720" cy="548640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9768" y="3675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ProductKey stored as decimal/object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29768" y="3877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856"/>
                </a:solidFill>
              </a:rPr>
              <a:t>Problem: ProductKey = 210.0 instead of 210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2377440" y="3877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294"/>
                </a:solidFill>
              </a:rPr>
              <a:t>Fix: Converted to integer for relationship join with dim_Product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4800600" y="3639312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0600" y="3639312"/>
            <a:ext cx="45720" cy="548640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10328" y="36758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No Product Category column existed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910328" y="3877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856"/>
                </a:solidFill>
              </a:rPr>
              <a:t>Problem: Only had EnglishProductName text field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6858000" y="38770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294"/>
                </a:solidFill>
              </a:rPr>
              <a:t>Fix: Created using SWITCH + SEARCH DAX calculated column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20040" y="4261104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" y="4261104"/>
            <a:ext cx="45720" cy="548640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" y="4297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No Income Bracket column existed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9768" y="4498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856"/>
                </a:solidFill>
              </a:rPr>
              <a:t>Problem: YearlyIncome raw numbers only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377440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294"/>
                </a:solidFill>
              </a:rPr>
              <a:t>Fix: Created bracket column with SWITCH DAX formula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800600" y="4261104"/>
            <a:ext cx="4160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4800600" y="4261104"/>
            <a:ext cx="45720" cy="548640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10328" y="429768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Income Bracket sorted alphabetically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910328" y="4498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E74856"/>
                </a:solidFill>
              </a:rPr>
              <a:t>Problem: $100K appeared before $20K in charts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6858000" y="4498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B294"/>
                </a:solidFill>
              </a:rPr>
              <a:t>Fix: Created sort order column — applied Sort by Column in Power BI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3 / 12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DATA CLEANING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Step by Step — How We Cleaned the Data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777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Power Query Cleaning Process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161288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61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1115568"/>
            <a:ext cx="43891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115214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Open Power Query Editor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35331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Home tab → Transform Data → Power Query opens → Click fact_InternetSales in left panel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12064" y="1545336"/>
            <a:ext cx="0" cy="18288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73936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1728216"/>
            <a:ext cx="43891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17647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Remove Null Rows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60120" y="19659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Click SalesAmount dropdown ▼ → Uncheck null → OK. Repeat for ProductKey column. 6 rows removed.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12064" y="2157984"/>
            <a:ext cx="0" cy="18288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2386584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386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2960" y="2340864"/>
            <a:ext cx="43891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60120" y="23774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Convert Date Keys to Text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578608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Click OrderDateKey → Transform tab → Data Type → Text → Replace current. Repeat for ShipDateKey and DueDateKey.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12064" y="2770632"/>
            <a:ext cx="0" cy="18288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999232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999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2953512"/>
            <a:ext cx="43891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960120" y="2990088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Create OrderDate Column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60120" y="319125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Add Column tab → Custom Column → Name: OrderDate → Formula: try Date.From(Text.Start(Text.From([OrderDateKey]),8)) otherwise null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064" y="3383280"/>
            <a:ext cx="0" cy="18288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3611880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" y="3566160"/>
            <a:ext cx="43891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960120" y="360273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Set Date Type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38039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Click new OrderDate column → Transform → Data Type → Date → Replace current. Repeat for ShipDate and DueDate columns.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12064" y="3995928"/>
            <a:ext cx="0" cy="182880"/>
          </a:xfrm>
          <a:prstGeom prst="line">
            <a:avLst/>
          </a:prstGeom>
          <a:noFill/>
          <a:ln w="19050">
            <a:solidFill>
              <a:srgbClr val="00D4A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" y="4224528"/>
            <a:ext cx="384048" cy="384048"/>
          </a:xfrm>
          <a:prstGeom prst="ellipse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960" y="4178808"/>
            <a:ext cx="43891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960120" y="4215384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Close and Apply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960120" y="441655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Click Close &amp; Apply in Home tab. Data loads into Power BI model with all date columns properly formatted.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577840" y="777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DAX Calculated Columns Created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577840" y="1115568"/>
            <a:ext cx="3246120" cy="12344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77840" y="1115568"/>
            <a:ext cx="324612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12070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Product Category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669280" y="1499616"/>
            <a:ext cx="3063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15000" y="153619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SWITCH(TRUE(), SEARCH("Mountain",...) &gt; 0, "Mountain Bikes", SEARCH("Road",...) &gt; 0, "Road Bikes", ...)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577840" y="2487168"/>
            <a:ext cx="3246120" cy="12344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577840" y="2487168"/>
            <a:ext cx="3246120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69280" y="25786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900"/>
                </a:solidFill>
              </a:rPr>
              <a:t>Income Bracket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669280" y="2871216"/>
            <a:ext cx="3063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15000" y="290779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SWITCH(TRUE(), YearlyIncome&lt;=20000, "Under $20K", YearlyIncome&lt;=40000, "$20K-$40K", ...)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577840" y="3858768"/>
            <a:ext cx="3246120" cy="12344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5577840" y="3858768"/>
            <a:ext cx="3246120" cy="36576"/>
          </a:xfrm>
          <a:prstGeom prst="rect">
            <a:avLst/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669280" y="395020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4DA9"/>
                </a:solidFill>
              </a:rPr>
              <a:t>Income Bracket Sort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69280" y="4242816"/>
            <a:ext cx="3063240" cy="74980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15000" y="4279392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00D4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SWITCH([Income Bracket], "Under $20K", 1, "$20K-$40K", 2, "$40K-$60K", 3, ...)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4 / 12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DATA MODEL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Building Connections — Star Schema Architecture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6459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383280" y="1828800"/>
            <a:ext cx="2377440" cy="4572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90195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0D4AA"/>
                </a:solidFill>
              </a:rPr>
              <a:t>FACT TABLE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383280" y="2130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fact_InternetSales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240487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5D8DC"/>
                </a:solidFill>
              </a:rPr>
              <a:t>60,399 rows  |  20 columns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29000" y="26060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SalesAmount  |  OrderDate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ProductKey  |  CustomerKey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7F8C8D"/>
                </a:solidFill>
              </a:rPr>
              <a:t>SalesTerritoryKey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28600" y="1828800"/>
            <a:ext cx="2377440" cy="9144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1828800"/>
            <a:ext cx="2377440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" y="19019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B900"/>
                </a:solidFill>
              </a:rPr>
              <a:t>dim_Product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1752" y="2157984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5D8DC"/>
                </a:solidFill>
              </a:rPr>
              <a:t>606 products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1752" y="234086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ProductKey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EnglishProductName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StandardCost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Color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537960" y="1828800"/>
            <a:ext cx="2377440" cy="9144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1828800"/>
            <a:ext cx="2377440" cy="36576"/>
          </a:xfrm>
          <a:prstGeom prst="rect">
            <a:avLst/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901952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44DA9"/>
                </a:solidFill>
              </a:rPr>
              <a:t>dim_Customer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11112" y="2157984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5D8DC"/>
                </a:solidFill>
              </a:rPr>
              <a:t>18,484 customers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611112" y="2340864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CustomerKey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YearlyIncome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EnglishOccupation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EnglishEducation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383280" y="713232"/>
            <a:ext cx="2377440" cy="9144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83280" y="713232"/>
            <a:ext cx="237744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78638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AA"/>
                </a:solidFill>
              </a:rPr>
              <a:t>DateTable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456432" y="104241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5D8DC"/>
                </a:solidFill>
              </a:rPr>
              <a:t>2010–2014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456432" y="122529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Date  |  Year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Month  |  Quarter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MonthNumber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83280" y="3730752"/>
            <a:ext cx="2377440" cy="91440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3730752"/>
            <a:ext cx="2377440" cy="36576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56432" y="3803904"/>
            <a:ext cx="2231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294"/>
                </a:solidFill>
              </a:rPr>
              <a:t>dim_SalesTeritory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456432" y="4059936"/>
            <a:ext cx="2231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5D8DC"/>
                </a:solidFill>
              </a:rPr>
              <a:t>11 territories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56432" y="4242816"/>
            <a:ext cx="2231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SalesTerritoryKey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SalesTerritoryRegion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SalesTerritoryCountry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606040" y="2286000"/>
            <a:ext cx="777240" cy="0"/>
          </a:xfrm>
          <a:prstGeom prst="line">
            <a:avLst/>
          </a:prstGeom>
          <a:noFill/>
          <a:ln w="254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B900"/>
                </a:solidFill>
              </a:rPr>
              <a:t>1:*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760720" y="2286000"/>
            <a:ext cx="777240" cy="0"/>
          </a:xfrm>
          <a:prstGeom prst="line">
            <a:avLst/>
          </a:prstGeom>
          <a:noFill/>
          <a:ln w="25400">
            <a:solidFill>
              <a:srgbClr val="744DA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214884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44DA9"/>
                </a:solidFill>
              </a:rPr>
              <a:t>*:1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572000" y="1627632"/>
            <a:ext cx="0" cy="201168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17720" y="16916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D4AA"/>
                </a:solidFill>
              </a:rPr>
              <a:t>1:*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572000" y="3474720"/>
            <a:ext cx="0" cy="256032"/>
          </a:xfrm>
          <a:prstGeom prst="line">
            <a:avLst/>
          </a:prstGeom>
          <a:noFill/>
          <a:ln w="25400">
            <a:solidFill>
              <a:srgbClr val="00B29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17720" y="35478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294"/>
                </a:solidFill>
              </a:rPr>
              <a:t>*:1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8796528" y="713232"/>
            <a:ext cx="27432" cy="3931920"/>
          </a:xfrm>
          <a:prstGeom prst="rect">
            <a:avLst/>
          </a:prstGeom>
          <a:solidFill>
            <a:srgbClr val="D5D8DC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" y="4617720"/>
            <a:ext cx="201168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20040" y="4617720"/>
            <a:ext cx="20116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4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393192" y="51663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Tables Connected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468880" y="4617720"/>
            <a:ext cx="201168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468880" y="4617720"/>
            <a:ext cx="20116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6032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5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2542032" y="51663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Relationships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617720" y="4617720"/>
            <a:ext cx="201168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17720" y="4617720"/>
            <a:ext cx="20116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17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4690872" y="51663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DAX Measures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66560" y="4617720"/>
            <a:ext cx="2011680" cy="59436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766560" y="4617720"/>
            <a:ext cx="20116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58000" y="47091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Star</a:t>
            </a:r>
            <a:endParaRPr lang="en-US" sz="2200" dirty="0"/>
          </a:p>
        </p:txBody>
      </p:sp>
      <p:sp>
        <p:nvSpPr>
          <p:cNvPr id="57" name="Text 55"/>
          <p:cNvSpPr/>
          <p:nvPr/>
        </p:nvSpPr>
        <p:spPr>
          <a:xfrm>
            <a:off x="6839712" y="516636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Schema Type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5 / 12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EXECUTIVE SUMMARY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Key Performance Indicators — Full Period 2010–2014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100584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22960"/>
            <a:ext cx="100584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$29.4M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3192" y="13716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Revenue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155448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2010–2014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1389888" y="822960"/>
            <a:ext cx="100584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389888" y="822960"/>
            <a:ext cx="1005840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81328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900"/>
                </a:solidFill>
              </a:rPr>
              <a:t>$12.1M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463040" y="13716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Profit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155448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53.4% margin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459736" y="822960"/>
            <a:ext cx="100584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459736" y="822960"/>
            <a:ext cx="1005840" cy="36576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51176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294"/>
                </a:solidFill>
              </a:rPr>
              <a:t>41.1%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2532888" y="13716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Profit Margin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32888" y="155448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Above industry avg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529584" y="822960"/>
            <a:ext cx="100584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529584" y="822960"/>
            <a:ext cx="1005840" cy="36576"/>
          </a:xfrm>
          <a:prstGeom prst="rect">
            <a:avLst/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21024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44DA9"/>
                </a:solidFill>
              </a:rPr>
              <a:t>60,399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602736" y="13716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02736" y="155448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Across all regions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599432" y="822960"/>
            <a:ext cx="100584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822960"/>
            <a:ext cx="100584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18,484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72584" y="13716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Unique Customers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72584" y="155448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Active buyers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669280" y="822960"/>
            <a:ext cx="100584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669280" y="822960"/>
            <a:ext cx="1005840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0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900"/>
                </a:solidFill>
              </a:rPr>
              <a:t>158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742432" y="13716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Products Sold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742432" y="155448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Active catalogue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739128" y="822960"/>
            <a:ext cx="100584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739128" y="822960"/>
            <a:ext cx="1005840" cy="36576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30568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294"/>
                </a:solidFill>
              </a:rPr>
              <a:t>7 Days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6812280" y="13716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Ship Time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12280" y="155448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Order to delivery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7808976" y="822960"/>
            <a:ext cx="100584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7808976" y="822960"/>
            <a:ext cx="100584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0416" y="9144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100%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882128" y="1371600"/>
            <a:ext cx="859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On-Time Delivery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82128" y="1554480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Zero late orders</a:t>
            </a:r>
            <a:endParaRPr lang="en-US" sz="750" dirty="0"/>
          </a:p>
        </p:txBody>
      </p:sp>
      <p:graphicFrame>
        <p:nvGraphicFramePr>
          <p:cNvPr id="47" name="Chart 0" descr=""/>
          <p:cNvGraphicFramePr/>
          <p:nvPr/>
        </p:nvGraphicFramePr>
        <p:xfrm>
          <a:off x="320040" y="1965960"/>
          <a:ext cx="51206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8" name="Text 45"/>
          <p:cNvSpPr/>
          <p:nvPr/>
        </p:nvSpPr>
        <p:spPr>
          <a:xfrm>
            <a:off x="320040" y="4599432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</a:rPr>
              <a:t>Revenue by Year</a:t>
            </a:r>
            <a:endParaRPr lang="en-US" sz="900" dirty="0"/>
          </a:p>
        </p:txBody>
      </p:sp>
      <p:sp>
        <p:nvSpPr>
          <p:cNvPr id="49" name="Shape 46"/>
          <p:cNvSpPr/>
          <p:nvPr/>
        </p:nvSpPr>
        <p:spPr>
          <a:xfrm>
            <a:off x="5623560" y="1965960"/>
            <a:ext cx="3246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5623560" y="1965960"/>
            <a:ext cx="45720" cy="566928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742432" y="2002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Peak Year</a:t>
            </a:r>
            <a:endParaRPr lang="en-US" sz="850" dirty="0"/>
          </a:p>
        </p:txBody>
      </p:sp>
      <p:sp>
        <p:nvSpPr>
          <p:cNvPr id="52" name="Text 49"/>
          <p:cNvSpPr/>
          <p:nvPr/>
        </p:nvSpPr>
        <p:spPr>
          <a:xfrm>
            <a:off x="7132320" y="20025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B900"/>
                </a:solidFill>
              </a:rPr>
              <a:t>2013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5742432" y="2240280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$16.4M — 55.7% of total 4-year revenue in one year</a:t>
            </a:r>
            <a:endParaRPr lang="en-US" sz="800" dirty="0"/>
          </a:p>
        </p:txBody>
      </p:sp>
      <p:sp>
        <p:nvSpPr>
          <p:cNvPr id="54" name="Shape 51"/>
          <p:cNvSpPr/>
          <p:nvPr/>
        </p:nvSpPr>
        <p:spPr>
          <a:xfrm>
            <a:off x="5623560" y="2624328"/>
            <a:ext cx="3246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623560" y="2624328"/>
            <a:ext cx="45720" cy="566928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742432" y="26609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Growth 2012→2013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7132320" y="266090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180%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5742432" y="289864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Revenue tripled from $5.8M to $16.4M in a single year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5623560" y="3282696"/>
            <a:ext cx="3246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0" name="Shape 57"/>
          <p:cNvSpPr/>
          <p:nvPr/>
        </p:nvSpPr>
        <p:spPr>
          <a:xfrm>
            <a:off x="5623560" y="3282696"/>
            <a:ext cx="45720" cy="566928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742432" y="33192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Orders in 2013</a:t>
            </a:r>
            <a:endParaRPr lang="en-US" sz="850" dirty="0"/>
          </a:p>
        </p:txBody>
      </p:sp>
      <p:sp>
        <p:nvSpPr>
          <p:cNvPr id="62" name="Text 59"/>
          <p:cNvSpPr/>
          <p:nvPr/>
        </p:nvSpPr>
        <p:spPr>
          <a:xfrm>
            <a:off x="7132320" y="331927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0B294"/>
                </a:solidFill>
              </a:rPr>
              <a:t>52,801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5742432" y="355701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15x more orders than 2012 — absorbed with zero delays</a:t>
            </a:r>
            <a:endParaRPr lang="en-US" sz="800" dirty="0"/>
          </a:p>
        </p:txBody>
      </p:sp>
      <p:sp>
        <p:nvSpPr>
          <p:cNvPr id="64" name="Shape 61"/>
          <p:cNvSpPr/>
          <p:nvPr/>
        </p:nvSpPr>
        <p:spPr>
          <a:xfrm>
            <a:off x="5623560" y="3941064"/>
            <a:ext cx="3246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5" name="Shape 62"/>
          <p:cNvSpPr/>
          <p:nvPr/>
        </p:nvSpPr>
        <p:spPr>
          <a:xfrm>
            <a:off x="5623560" y="3941064"/>
            <a:ext cx="45720" cy="566928"/>
          </a:xfrm>
          <a:prstGeom prst="rect">
            <a:avLst/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5742432" y="3977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5568"/>
                </a:solidFill>
              </a:rPr>
              <a:t>Avg per Customer</a:t>
            </a:r>
            <a:endParaRPr lang="en-US" sz="850" dirty="0"/>
          </a:p>
        </p:txBody>
      </p:sp>
      <p:sp>
        <p:nvSpPr>
          <p:cNvPr id="67" name="Text 64"/>
          <p:cNvSpPr/>
          <p:nvPr/>
        </p:nvSpPr>
        <p:spPr>
          <a:xfrm>
            <a:off x="7132320" y="397764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744DA9"/>
                </a:solidFill>
              </a:rPr>
              <a:t>$487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5742432" y="4215384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</a:rPr>
              <a:t>Average order value per transaction across all periods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6 / 12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SALES DRIVERS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What Drives Our Sales? — Products &amp; Regions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Top 5 Products by Revenue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005840"/>
          <a:ext cx="512064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27248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Lowest Revenue Products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3383280"/>
            <a:ext cx="1234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" y="3383280"/>
            <a:ext cx="1234440" cy="3657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34564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856"/>
                </a:solidFill>
              </a:rPr>
              <a:t>$2,427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65760" y="3730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Racing Socks, L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1618488" y="3383280"/>
            <a:ext cx="1234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618488" y="3383280"/>
            <a:ext cx="1234440" cy="3657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664208" y="34564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856"/>
                </a:solidFill>
              </a:rPr>
              <a:t>$2,679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664208" y="3730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Racing Socks, M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916936" y="3383280"/>
            <a:ext cx="1234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916936" y="3383280"/>
            <a:ext cx="1234440" cy="3657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62656" y="34564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856"/>
                </a:solidFill>
              </a:rPr>
              <a:t>$7,219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2962656" y="3730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Bike Wash Dissolver</a:t>
            </a:r>
            <a:endParaRPr lang="en-US" sz="700" dirty="0"/>
          </a:p>
        </p:txBody>
      </p:sp>
      <p:sp>
        <p:nvSpPr>
          <p:cNvPr id="22" name="Shape 19"/>
          <p:cNvSpPr/>
          <p:nvPr/>
        </p:nvSpPr>
        <p:spPr>
          <a:xfrm>
            <a:off x="4215384" y="3383280"/>
            <a:ext cx="1234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215384" y="3383280"/>
            <a:ext cx="1234440" cy="3657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261104" y="34564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856"/>
                </a:solidFill>
              </a:rPr>
              <a:t>$7,307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4261104" y="373075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5568"/>
                </a:solidFill>
              </a:rPr>
              <a:t>Patch Kit/8 Patches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577840" y="7772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Revenue by Region</a:t>
            </a:r>
            <a:endParaRPr lang="en-US" sz="12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5577840" y="1005840"/>
          <a:ext cx="329184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Shape 24"/>
          <p:cNvSpPr/>
          <p:nvPr/>
        </p:nvSpPr>
        <p:spPr>
          <a:xfrm>
            <a:off x="5577840" y="3401568"/>
            <a:ext cx="3291840" cy="914400"/>
          </a:xfrm>
          <a:prstGeom prst="rect">
            <a:avLst/>
          </a:prstGeom>
          <a:solidFill>
            <a:srgbClr val="E8F8F5"/>
          </a:solidFill>
          <a:ln w="19050">
            <a:solidFill>
              <a:srgbClr val="00D4AA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715000" y="3474720"/>
            <a:ext cx="30175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Australia leads at $9.1M (30.9%). Mountain-200 &amp; Road-150 drive 99.6% of all revenue. Top 5 individual products are ALL Mountain-200 variants.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7 / 12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CUSTOMER INSIGHTS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Who Are Our Customers? — Demographics &amp; Behaviour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By Occupation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005840"/>
          <a:ext cx="411480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4663440" y="77724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By Education Level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663440" y="1005840"/>
          <a:ext cx="416052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320040" y="3291840"/>
            <a:ext cx="201168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320040" y="3291840"/>
            <a:ext cx="20116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41148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Professional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93192" y="3840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Ideal Customer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93192" y="402336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Bachelor educated, ₹60K-₹80K income</a:t>
            </a:r>
            <a:endParaRPr lang="en-US" sz="750" dirty="0"/>
          </a:p>
        </p:txBody>
      </p:sp>
      <p:sp>
        <p:nvSpPr>
          <p:cNvPr id="16" name="Shape 12"/>
          <p:cNvSpPr/>
          <p:nvPr/>
        </p:nvSpPr>
        <p:spPr>
          <a:xfrm>
            <a:off x="2496312" y="3291840"/>
            <a:ext cx="201168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496312" y="3291840"/>
            <a:ext cx="2011680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587752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900"/>
                </a:solidFill>
              </a:rPr>
              <a:t>Australia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2569464" y="3840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Top Region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2569464" y="402336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31% of global revenue, highest loyalty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672584" y="3291840"/>
            <a:ext cx="201168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672584" y="3291840"/>
            <a:ext cx="2011680" cy="36576"/>
          </a:xfrm>
          <a:prstGeom prst="rect">
            <a:avLst/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764024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44DA9"/>
                </a:solidFill>
              </a:rPr>
              <a:t>3.27x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745736" y="3840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Orders/Customer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4745736" y="402336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Average repeat purchases per customer</a:t>
            </a:r>
            <a:endParaRPr lang="en-US" sz="750" dirty="0"/>
          </a:p>
        </p:txBody>
      </p:sp>
      <p:sp>
        <p:nvSpPr>
          <p:cNvPr id="26" name="Shape 22"/>
          <p:cNvSpPr/>
          <p:nvPr/>
        </p:nvSpPr>
        <p:spPr>
          <a:xfrm>
            <a:off x="6848856" y="3291840"/>
            <a:ext cx="2011680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848856" y="3291840"/>
            <a:ext cx="2011680" cy="36576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940296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294"/>
                </a:solidFill>
              </a:rPr>
              <a:t>2013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6922008" y="3840480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Peak Acquisition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922008" y="4023360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17,429 of 18,484 customers acquired in one year</a:t>
            </a:r>
            <a:endParaRPr lang="en-US" sz="750" dirty="0"/>
          </a:p>
        </p:txBody>
      </p:sp>
      <p:sp>
        <p:nvSpPr>
          <p:cNvPr id="31" name="Text 27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8 / 12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SHIPPING &amp; DELAYS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Where Are the Delays? — Operations Analysis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011680" cy="1005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804672"/>
            <a:ext cx="201168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7 Days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93192" y="135331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Avg Delivery Time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93192" y="153619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Order to shipment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487168" y="804672"/>
            <a:ext cx="2011680" cy="1005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87168" y="804672"/>
            <a:ext cx="2011680" cy="36576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78608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294"/>
                </a:solidFill>
              </a:rPr>
              <a:t>100%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560320" y="135331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On-Time Delivery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560320" y="153619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vs 95% target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654296" y="804672"/>
            <a:ext cx="2011680" cy="1005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54296" y="804672"/>
            <a:ext cx="2011680" cy="36576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45736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B294"/>
                </a:solidFill>
              </a:rPr>
              <a:t>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727448" y="135331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Late Orders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27448" y="153619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Zero across 60,399 orders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821424" y="804672"/>
            <a:ext cx="2011680" cy="100584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821424" y="804672"/>
            <a:ext cx="2011680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12864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B900"/>
                </a:solidFill>
              </a:rPr>
              <a:t>+5.26%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894576" y="1353312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Above Target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94576" y="1536192"/>
            <a:ext cx="18653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95% target exceeded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20040" y="19202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Order Volume by Year</a:t>
            </a:r>
            <a:endParaRPr lang="en-US" sz="120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320040" y="2148840"/>
          <a:ext cx="5120640" cy="2423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5623560" y="19202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Delay Risk Analysis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623560" y="2176272"/>
            <a:ext cx="3246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623560" y="2176272"/>
            <a:ext cx="45720" cy="40233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742432" y="22037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7-Day Average is Slow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7955280" y="2203704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955280" y="2203704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MEDIUM</a:t>
            </a:r>
            <a:endParaRPr lang="en-US" sz="600" dirty="0"/>
          </a:p>
        </p:txBody>
      </p:sp>
      <p:sp>
        <p:nvSpPr>
          <p:cNvPr id="35" name="Text 32"/>
          <p:cNvSpPr/>
          <p:nvPr/>
        </p:nvSpPr>
        <p:spPr>
          <a:xfrm>
            <a:off x="5742432" y="2395728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Industry standard now 3-4 days. Customers expect faster.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5623560" y="2651760"/>
            <a:ext cx="3246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5623560" y="2651760"/>
            <a:ext cx="45720" cy="40233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742432" y="2679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International Shipping Gap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955280" y="2679192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955280" y="267919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HIGH</a:t>
            </a:r>
            <a:endParaRPr lang="en-US" sz="600" dirty="0"/>
          </a:p>
        </p:txBody>
      </p:sp>
      <p:sp>
        <p:nvSpPr>
          <p:cNvPr id="41" name="Text 38"/>
          <p:cNvSpPr/>
          <p:nvPr/>
        </p:nvSpPr>
        <p:spPr>
          <a:xfrm>
            <a:off x="5742432" y="2871216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Australia (31% of orders) experiences 10-14 day actual delivery.</a:t>
            </a:r>
            <a:endParaRPr lang="en-US" sz="750" dirty="0"/>
          </a:p>
        </p:txBody>
      </p:sp>
      <p:sp>
        <p:nvSpPr>
          <p:cNvPr id="42" name="Shape 39"/>
          <p:cNvSpPr/>
          <p:nvPr/>
        </p:nvSpPr>
        <p:spPr>
          <a:xfrm>
            <a:off x="5623560" y="3127248"/>
            <a:ext cx="3246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5623560" y="3127248"/>
            <a:ext cx="45720" cy="40233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742432" y="315468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Seasonal Volume Spikes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7955280" y="3154680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955280" y="31546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HIGH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5742432" y="3346704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June and December peaks can overwhelm warehouse and courier capacity.</a:t>
            </a:r>
            <a:endParaRPr lang="en-US" sz="750" dirty="0"/>
          </a:p>
        </p:txBody>
      </p:sp>
      <p:sp>
        <p:nvSpPr>
          <p:cNvPr id="48" name="Shape 45"/>
          <p:cNvSpPr/>
          <p:nvPr/>
        </p:nvSpPr>
        <p:spPr>
          <a:xfrm>
            <a:off x="5623560" y="3602736"/>
            <a:ext cx="3246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23560" y="3602736"/>
            <a:ext cx="45720" cy="40233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742432" y="363016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Stock Availability Risk</a:t>
            </a:r>
            <a:endParaRPr lang="en-US" sz="850" dirty="0"/>
          </a:p>
        </p:txBody>
      </p:sp>
      <p:sp>
        <p:nvSpPr>
          <p:cNvPr id="51" name="Shape 48"/>
          <p:cNvSpPr/>
          <p:nvPr/>
        </p:nvSpPr>
        <p:spPr>
          <a:xfrm>
            <a:off x="7955280" y="3630168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955280" y="363016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CRITICAL</a:t>
            </a:r>
            <a:endParaRPr lang="en-US" sz="600" dirty="0"/>
          </a:p>
        </p:txBody>
      </p:sp>
      <p:sp>
        <p:nvSpPr>
          <p:cNvPr id="53" name="Text 50"/>
          <p:cNvSpPr/>
          <p:nvPr/>
        </p:nvSpPr>
        <p:spPr>
          <a:xfrm>
            <a:off x="5742432" y="38221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Mountain-200 drives 61% of revenue. Any stockout = massive impact.</a:t>
            </a:r>
            <a:endParaRPr lang="en-US" sz="750" dirty="0"/>
          </a:p>
        </p:txBody>
      </p:sp>
      <p:sp>
        <p:nvSpPr>
          <p:cNvPr id="54" name="Shape 51"/>
          <p:cNvSpPr/>
          <p:nvPr/>
        </p:nvSpPr>
        <p:spPr>
          <a:xfrm>
            <a:off x="5623560" y="4078224"/>
            <a:ext cx="3246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5" name="Shape 52"/>
          <p:cNvSpPr/>
          <p:nvPr/>
        </p:nvSpPr>
        <p:spPr>
          <a:xfrm>
            <a:off x="5623560" y="4078224"/>
            <a:ext cx="45720" cy="40233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742432" y="4105656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Data Quality Gaps</a:t>
            </a:r>
            <a:endParaRPr lang="en-US" sz="850" dirty="0"/>
          </a:p>
        </p:txBody>
      </p:sp>
      <p:sp>
        <p:nvSpPr>
          <p:cNvPr id="57" name="Shape 54"/>
          <p:cNvSpPr/>
          <p:nvPr/>
        </p:nvSpPr>
        <p:spPr>
          <a:xfrm>
            <a:off x="7955280" y="4105656"/>
            <a:ext cx="777240" cy="182880"/>
          </a:xfrm>
          <a:prstGeom prst="roundRect">
            <a:avLst>
              <a:gd name="adj" fmla="val 25000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7955280" y="41056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</a:rPr>
              <a:t>MEDIUM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5742432" y="429768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Blank fields in education, region, occupation mask true performance.</a:t>
            </a:r>
            <a:endParaRPr lang="en-US" sz="750" dirty="0"/>
          </a:p>
        </p:txBody>
      </p:sp>
      <p:sp>
        <p:nvSpPr>
          <p:cNvPr id="60" name="Text 57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9 / 12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SALES PERFORMANCE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Sales Trends Over Time — Drill-Down by Product &amp; Region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20040" y="77724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2013 Monthly Revenue Trend (Peak Year)</a:t>
            </a:r>
            <a:endParaRPr lang="en-US" sz="1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005840"/>
          <a:ext cx="53035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20040" y="3246120"/>
            <a:ext cx="1261872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040" y="3246120"/>
            <a:ext cx="126187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33375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$2.68M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393192" y="37947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Q1 Revenue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93192" y="397764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16% of year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1664208" y="3246120"/>
            <a:ext cx="1261872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1664208" y="3246120"/>
            <a:ext cx="126187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755648" y="33375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$3.97M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1737360" y="37947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Q2 Revenue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737360" y="397764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24% of year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008376" y="3246120"/>
            <a:ext cx="1261872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008376" y="3246120"/>
            <a:ext cx="126187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099816" y="33375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$4.37M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3081528" y="37947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Q3 Revenue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081528" y="397764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27% of year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352544" y="3246120"/>
            <a:ext cx="1261872" cy="1024128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352544" y="3246120"/>
            <a:ext cx="126187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43984" y="3337560"/>
            <a:ext cx="1078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D4AA"/>
                </a:solidFill>
              </a:rPr>
              <a:t>$5.33M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4425696" y="3794760"/>
            <a:ext cx="1115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Q4 Revenue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425696" y="3977640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33% of year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5852160" y="77724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Revenue by Product Category</a:t>
            </a:r>
            <a:endParaRPr lang="en-US" sz="1200" dirty="0"/>
          </a:p>
        </p:txBody>
      </p:sp>
      <p:graphicFrame>
        <p:nvGraphicFramePr>
          <p:cNvPr id="30" name="Chart 1" descr=""/>
          <p:cNvGraphicFramePr/>
          <p:nvPr/>
        </p:nvGraphicFramePr>
        <p:xfrm>
          <a:off x="5852160" y="1005840"/>
          <a:ext cx="301752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1" name="Shape 27"/>
          <p:cNvSpPr/>
          <p:nvPr/>
        </p:nvSpPr>
        <p:spPr>
          <a:xfrm>
            <a:off x="5852160" y="3401568"/>
            <a:ext cx="3017520" cy="914400"/>
          </a:xfrm>
          <a:prstGeom prst="rect">
            <a:avLst/>
          </a:prstGeom>
          <a:solidFill>
            <a:srgbClr val="E8F8F5"/>
          </a:solidFill>
          <a:ln w="19050">
            <a:solidFill>
              <a:srgbClr val="FFB90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5989320" y="3474720"/>
            <a:ext cx="2743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</a:rPr>
              <a:t>Q4 2013 was the strongest at $5.33M. December alone generated $1.87M — gift season peak. Revenue grew every single quarter through 2013.</a:t>
            </a:r>
            <a:endParaRPr lang="en-US" sz="950" dirty="0"/>
          </a:p>
        </p:txBody>
      </p:sp>
      <p:sp>
        <p:nvSpPr>
          <p:cNvPr id="33" name="Text 29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10 / 12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64592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645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</a:rPr>
              <a:t>INSIGHTS &amp; SOLUTIONS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Problems Identified — Matched with Actionable Solutions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208483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822960"/>
            <a:ext cx="2084832" cy="3657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9144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14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Mountain Bikes = 60.86% of revenue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15179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Single product line drives nearly all revenue — concentration risk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359152" y="1417320"/>
            <a:ext cx="25603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40864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615184" y="822960"/>
            <a:ext cx="2084832" cy="12618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15184" y="822960"/>
            <a:ext cx="20848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06624" y="9144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06624" y="914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SOLUTION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706624" y="11704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Accessories Upsell Program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06624" y="15179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5D8DC"/>
                </a:solidFill>
              </a:rPr>
              <a:t>Bundle helmet + gloves + jersey with every bike. Target $500 per order = $30M opportunity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709160" y="822960"/>
            <a:ext cx="208483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822960"/>
            <a:ext cx="2084832" cy="3657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9144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914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800600" y="11704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Australia = 31% — concentration risk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15179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One country drives nearly a third of all global revenue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793992" y="1417320"/>
            <a:ext cx="25603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75704" y="129844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050024" y="822960"/>
            <a:ext cx="2084832" cy="12618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050024" y="822960"/>
            <a:ext cx="2084832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914400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914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SOLUTION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141464" y="117043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Replicate Australia in UK &amp; Germany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141464" y="1517904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5D8DC"/>
                </a:solidFill>
              </a:rPr>
              <a:t>Both have existing customer bases. Apply the Australia playbook to add $4M+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74320" y="2267712"/>
            <a:ext cx="208483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74320" y="2267712"/>
            <a:ext cx="2084832" cy="3657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359152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3591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65760" y="26151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Southeast/NE/Central = $0 revenue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65760" y="296265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Three territories in the system generating literally zero orders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359152" y="2862072"/>
            <a:ext cx="25603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40864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615184" y="2267712"/>
            <a:ext cx="2084832" cy="12618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615184" y="2267712"/>
            <a:ext cx="2084832" cy="36576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706624" y="2359152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06624" y="23591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SOLUTION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2706624" y="26151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Assign Sales Reps to 3 Territories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06624" y="296265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5D8DC"/>
                </a:solidFill>
              </a:rPr>
              <a:t>Set $1M Year 1 target each. Potential $3M+ from completely untapped regions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09160" y="2267712"/>
            <a:ext cx="208483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2267712"/>
            <a:ext cx="2084832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800600" y="2359152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00600" y="23591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800600" y="26151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2013 growth formula not repeated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800600" y="296265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Revenue tripled in 2013 but the cause has never been identified or replicated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6793992" y="2862072"/>
            <a:ext cx="25603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75704" y="27432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7050024" y="2267712"/>
            <a:ext cx="2084832" cy="12618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7050024" y="2267712"/>
            <a:ext cx="2084832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41464" y="2359152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141464" y="23591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SOLUTION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141464" y="2615184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Investigate &amp; Replicate 2013 Formula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7141464" y="296265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5D8DC"/>
                </a:solidFill>
              </a:rPr>
              <a:t>Review 2013 marketing spend, product launches, channels. Rebuild the trigger.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74320" y="3712464"/>
            <a:ext cx="208483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274320" y="3712464"/>
            <a:ext cx="2084832" cy="36576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65760" y="3803904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38039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365760" y="40599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7-day shipping below market standard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365760" y="44074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Amazon 1-2 days, Flipkart 2-3 days. We are at slow end of market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2359152" y="4306824"/>
            <a:ext cx="25603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340864" y="4187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2615184" y="3712464"/>
            <a:ext cx="2084832" cy="12618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2615184" y="3712464"/>
            <a:ext cx="2084832" cy="36576"/>
          </a:xfrm>
          <a:prstGeom prst="rect">
            <a:avLst/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706624" y="3803904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2706624" y="38039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SOLUTION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2706624" y="40599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Reduce Ship Days 7→3 Days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2706624" y="44074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5D8DC"/>
                </a:solidFill>
              </a:rPr>
              <a:t>Automate processing, express courier partnership, pre-pack top 10 products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709160" y="3712464"/>
            <a:ext cx="2084832" cy="12618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4709160" y="3712464"/>
            <a:ext cx="2084832" cy="36576"/>
          </a:xfrm>
          <a:prstGeom prst="rect">
            <a:avLst/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800600" y="3803904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E74856"/>
          </a:solidFill>
          <a:ln w="12700">
            <a:solidFill>
              <a:srgbClr val="E7485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800600" y="38039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PROBLEM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4800600" y="40599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1B2A"/>
                </a:solidFill>
              </a:rPr>
              <a:t>Accessories at less than 1% revenue</a:t>
            </a:r>
            <a:endParaRPr lang="en-US" sz="850" dirty="0"/>
          </a:p>
        </p:txBody>
      </p:sp>
      <p:sp>
        <p:nvSpPr>
          <p:cNvPr id="82" name="Text 80"/>
          <p:cNvSpPr/>
          <p:nvPr/>
        </p:nvSpPr>
        <p:spPr>
          <a:xfrm>
            <a:off x="4800600" y="44074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A5568"/>
                </a:solidFill>
              </a:rPr>
              <a:t>18,484 bike customers buying accessories from competitors instead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6793992" y="4306824"/>
            <a:ext cx="256032" cy="0"/>
          </a:xfrm>
          <a:prstGeom prst="line">
            <a:avLst/>
          </a:prstGeom>
          <a:noFill/>
          <a:ln w="25400">
            <a:solidFill>
              <a:srgbClr val="00D4A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775704" y="418795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AA"/>
                </a:solidFill>
              </a:rPr>
              <a:t>→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7050024" y="3712464"/>
            <a:ext cx="2084832" cy="1261872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6" name="Shape 84"/>
          <p:cNvSpPr/>
          <p:nvPr/>
        </p:nvSpPr>
        <p:spPr>
          <a:xfrm>
            <a:off x="7050024" y="3712464"/>
            <a:ext cx="2084832" cy="36576"/>
          </a:xfrm>
          <a:prstGeom prst="rect">
            <a:avLst/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141464" y="3803904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FF8C00"/>
          </a:solidFill>
          <a:ln w="12700">
            <a:solidFill>
              <a:srgbClr val="FF8C0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141464" y="380390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SOLUTION</a:t>
            </a:r>
            <a:endParaRPr lang="en-US" sz="700" dirty="0"/>
          </a:p>
        </p:txBody>
      </p:sp>
      <p:sp>
        <p:nvSpPr>
          <p:cNvPr id="89" name="Text 87"/>
          <p:cNvSpPr/>
          <p:nvPr/>
        </p:nvSpPr>
        <p:spPr>
          <a:xfrm>
            <a:off x="7141464" y="4059936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Point-of-Purchase Accessories Bundle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141464" y="44074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5D8DC"/>
                </a:solidFill>
              </a:rPr>
              <a:t>At checkout offer 10% bundle discount. Estimated $92M long-term opportunity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11 / 12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474720"/>
            <a:ext cx="4114800" cy="4114800"/>
          </a:xfrm>
          <a:prstGeom prst="ellipse">
            <a:avLst/>
          </a:prstGeom>
          <a:solidFill>
            <a:srgbClr val="00D4AA">
              <a:alpha val="15000"/>
            </a:srgbClr>
          </a:solidFill>
          <a:ln w="12700">
            <a:solidFill>
              <a:srgbClr val="00D4AA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731520"/>
            <a:ext cx="3200400" cy="3200400"/>
          </a:xfrm>
          <a:prstGeom prst="ellipse">
            <a:avLst/>
          </a:prstGeom>
          <a:solidFill>
            <a:srgbClr val="1B4F72">
              <a:alpha val="22000"/>
            </a:srgbClr>
          </a:solidFill>
          <a:ln w="12700">
            <a:solidFill>
              <a:srgbClr val="1B4F72">
                <a:alpha val="2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0" kern="0" dirty="0">
                <a:solidFill>
                  <a:srgbClr val="00D4AA"/>
                </a:solidFill>
              </a:rPr>
              <a:t>VALUE CREATED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This Dashboard Delivers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1115568"/>
            <a:ext cx="2743200" cy="36576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325880"/>
            <a:ext cx="2788920" cy="15544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325880"/>
            <a:ext cx="54864" cy="1554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02336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Financial Clarity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209397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$29.4M revenue, 41.1% margin, $12.1M profit — all visible instantly without manual Excel work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2788920" cy="15544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325880"/>
            <a:ext cx="54864" cy="15544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28416" y="1417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900"/>
                </a:solidFill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28416" y="18013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 Intelligence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28416" y="2093976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Professional bachelor-educated $60K-$80K income in Australia — exact profile identified for targeting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3044952"/>
            <a:ext cx="2788920" cy="15544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3044952"/>
            <a:ext cx="54864" cy="1554480"/>
          </a:xfrm>
          <a:prstGeom prst="rect">
            <a:avLst/>
          </a:prstGeom>
          <a:solidFill>
            <a:srgbClr val="00B294"/>
          </a:solidFill>
          <a:ln w="12700">
            <a:solidFill>
              <a:srgbClr val="00B2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3136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B294"/>
                </a:solidFill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254496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960 Hours Saved/Year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54496" y="38130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Questions that took 2 hours manually now take 3 seconds. 10 questions/week = 80 hours/month saved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044952"/>
            <a:ext cx="2788920" cy="15544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044952"/>
            <a:ext cx="54864" cy="1554480"/>
          </a:xfrm>
          <a:prstGeom prst="rect">
            <a:avLst/>
          </a:prstGeom>
          <a:solidFill>
            <a:srgbClr val="744DA9"/>
          </a:solidFill>
          <a:ln w="12700">
            <a:solidFill>
              <a:srgbClr val="744DA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1363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44DA9"/>
                </a:solidFill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402336" y="3520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$30M+ Opportunity Found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" y="381304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Accessories at 1% revenue with 18,484 bike customers = massive untapped upsell opportunity identified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0" y="4764024"/>
            <a:ext cx="2788920" cy="15544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0" y="4764024"/>
            <a:ext cx="54864" cy="1554480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4855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4AA"/>
                </a:solidFill>
              </a:rPr>
              <a:t>05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328416" y="5239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100% Delivery Proven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28416" y="5532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Zero late orders across 60,399 transactions — a competitive advantage now documented and quantified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4764024"/>
            <a:ext cx="2788920" cy="1554480"/>
          </a:xfrm>
          <a:prstGeom prst="rect">
            <a:avLst/>
          </a:prstGeom>
          <a:solidFill>
            <a:srgbClr val="16203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4764024"/>
            <a:ext cx="54864" cy="155448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485546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900"/>
                </a:solidFill>
              </a:rPr>
              <a:t>06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254496" y="523951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Growth Formula Identified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54496" y="55321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5D8DC"/>
                </a:solidFill>
              </a:rPr>
              <a:t>2013 delivered 55.7% of 4-year revenue. Pattern identified — investigation and replication now possible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489204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7F8C8D"/>
                </a:solidFill>
              </a:rPr>
              <a:t>Sales Performance Dashboard  |  AdventureWorks 2010–2014  |  Built with Power BI &amp; DAX  |  Confidential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8046720" y="489204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F8C8D"/>
                </a:solidFill>
              </a:rPr>
              <a:t>12 / 12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Performance Dashboard — Complete Project</dc:title>
  <dc:subject>PptxGenJS Presentation</dc:subject>
  <dc:creator>PptxGenJS</dc:creator>
  <cp:lastModifiedBy>PptxGenJS</cp:lastModifiedBy>
  <cp:revision>1</cp:revision>
  <dcterms:created xsi:type="dcterms:W3CDTF">2026-03-20T07:06:48Z</dcterms:created>
  <dcterms:modified xsi:type="dcterms:W3CDTF">2026-03-20T07:06:48Z</dcterms:modified>
</cp:coreProperties>
</file>